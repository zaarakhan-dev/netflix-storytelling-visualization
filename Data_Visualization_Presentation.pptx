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00503000000020004"/>
      <p:regular r:id="rId19"/>
    </p:embeddedFont>
    <p:embeddedFont>
      <p:font typeface="Inter" charset="1" panose="02000503000000020004"/>
      <p:regular r:id="rId20"/>
    </p:embeddedFont>
    <p:embeddedFont>
      <p:font typeface="Inter Light" charset="1" panose="020005030000000200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920926"/>
            <a:ext cx="16303523" cy="179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Netflix Content Analysis: Storytelling Through Data Visualization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051402"/>
            <a:ext cx="16303523" cy="1311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Submitted By: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Zaara Khan</a:t>
            </a:r>
          </a:p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Tools Used: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596538"/>
            <a:ext cx="16303523" cy="275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Python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Pandas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Matplotlib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Seaborn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Jupyter Notebook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83431"/>
            <a:ext cx="6784334" cy="752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6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Objective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594837"/>
            <a:ext cx="5610377" cy="60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2"/>
              </a:lnSpc>
            </a:pPr>
            <a:r>
              <a:rPr lang="en-US" sz="36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Objective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2444648"/>
            <a:ext cx="16303523" cy="73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objective of this project is to analyze Netflix's content library using data visualization techniques and communicate insights through an effective data story.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451469"/>
            <a:ext cx="5610377" cy="60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2"/>
              </a:lnSpc>
            </a:pPr>
            <a:r>
              <a:rPr lang="en-US" sz="36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Goals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1080192" y="4360593"/>
            <a:ext cx="352130" cy="352130"/>
          </a:xfrm>
          <a:custGeom>
            <a:avLst/>
            <a:gdLst/>
            <a:ahLst/>
            <a:cxnLst/>
            <a:rect r="r" b="b" t="t" l="l"/>
            <a:pathLst>
              <a:path h="352130" w="352130">
                <a:moveTo>
                  <a:pt x="0" y="0"/>
                </a:moveTo>
                <a:lnTo>
                  <a:pt x="352130" y="0"/>
                </a:lnTo>
                <a:lnTo>
                  <a:pt x="352130" y="352129"/>
                </a:lnTo>
                <a:lnTo>
                  <a:pt x="0" y="352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459" t="0" r="-9459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55134" y="4301280"/>
            <a:ext cx="15540628" cy="39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Understand Netflix's content distribution.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1080192" y="5465493"/>
            <a:ext cx="352130" cy="352130"/>
          </a:xfrm>
          <a:custGeom>
            <a:avLst/>
            <a:gdLst/>
            <a:ahLst/>
            <a:cxnLst/>
            <a:rect r="r" b="b" t="t" l="l"/>
            <a:pathLst>
              <a:path h="352130" w="352130">
                <a:moveTo>
                  <a:pt x="0" y="0"/>
                </a:moveTo>
                <a:lnTo>
                  <a:pt x="352130" y="0"/>
                </a:lnTo>
                <a:lnTo>
                  <a:pt x="352130" y="352129"/>
                </a:lnTo>
                <a:lnTo>
                  <a:pt x="0" y="352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459" t="0" r="-9459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55134" y="5406180"/>
            <a:ext cx="15540628" cy="39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Identify trends and patterns.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080192" y="6570393"/>
            <a:ext cx="352130" cy="352130"/>
          </a:xfrm>
          <a:custGeom>
            <a:avLst/>
            <a:gdLst/>
            <a:ahLst/>
            <a:cxnLst/>
            <a:rect r="r" b="b" t="t" l="l"/>
            <a:pathLst>
              <a:path h="352130" w="352130">
                <a:moveTo>
                  <a:pt x="0" y="0"/>
                </a:moveTo>
                <a:lnTo>
                  <a:pt x="352130" y="0"/>
                </a:lnTo>
                <a:lnTo>
                  <a:pt x="352130" y="352129"/>
                </a:lnTo>
                <a:lnTo>
                  <a:pt x="0" y="352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459" t="0" r="-9459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55134" y="6511080"/>
            <a:ext cx="15540628" cy="39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Create meaningful visualizations.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1080192" y="7675293"/>
            <a:ext cx="352130" cy="352130"/>
          </a:xfrm>
          <a:custGeom>
            <a:avLst/>
            <a:gdLst/>
            <a:ahLst/>
            <a:cxnLst/>
            <a:rect r="r" b="b" t="t" l="l"/>
            <a:pathLst>
              <a:path h="352130" w="352130">
                <a:moveTo>
                  <a:pt x="0" y="0"/>
                </a:moveTo>
                <a:lnTo>
                  <a:pt x="352130" y="0"/>
                </a:lnTo>
                <a:lnTo>
                  <a:pt x="352130" y="352129"/>
                </a:lnTo>
                <a:lnTo>
                  <a:pt x="0" y="352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459" t="0" r="-9459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755134" y="7615980"/>
            <a:ext cx="15540628" cy="39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Interpret the results using business insights.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1080192" y="8780193"/>
            <a:ext cx="352130" cy="352130"/>
          </a:xfrm>
          <a:custGeom>
            <a:avLst/>
            <a:gdLst/>
            <a:ahLst/>
            <a:cxnLst/>
            <a:rect r="r" b="b" t="t" l="l"/>
            <a:pathLst>
              <a:path h="352130" w="352130">
                <a:moveTo>
                  <a:pt x="0" y="0"/>
                </a:moveTo>
                <a:lnTo>
                  <a:pt x="352130" y="0"/>
                </a:lnTo>
                <a:lnTo>
                  <a:pt x="352130" y="352129"/>
                </a:lnTo>
                <a:lnTo>
                  <a:pt x="0" y="352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459" t="0" r="-9459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55134" y="8720880"/>
            <a:ext cx="15540628" cy="39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Demonstrate how visualization helps in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84174"/>
            <a:ext cx="7781182" cy="877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Dataset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748876"/>
            <a:ext cx="6407791" cy="705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Dataset Information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2777280"/>
            <a:ext cx="16303523" cy="124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Dataset:</a:t>
            </a: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Netflix Movies and TV Shows</a:t>
            </a:r>
          </a:p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dataset contains information about Netflix content including: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94442" y="4317359"/>
            <a:ext cx="8212341" cy="5166274"/>
            <a:chOff x="0" y="0"/>
            <a:chExt cx="10949788" cy="68883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49686" cy="6888353"/>
            </a:xfrm>
            <a:custGeom>
              <a:avLst/>
              <a:gdLst/>
              <a:ahLst/>
              <a:cxnLst/>
              <a:rect r="r" b="b" t="t" l="l"/>
              <a:pathLst>
                <a:path h="6888353" w="10949686">
                  <a:moveTo>
                    <a:pt x="0" y="263652"/>
                  </a:moveTo>
                  <a:cubicBezTo>
                    <a:pt x="0" y="118110"/>
                    <a:pt x="118110" y="0"/>
                    <a:pt x="263652" y="0"/>
                  </a:cubicBezTo>
                  <a:lnTo>
                    <a:pt x="10686034" y="0"/>
                  </a:lnTo>
                  <a:cubicBezTo>
                    <a:pt x="10831702" y="0"/>
                    <a:pt x="10949686" y="118110"/>
                    <a:pt x="10949686" y="263652"/>
                  </a:cubicBezTo>
                  <a:lnTo>
                    <a:pt x="10949686" y="6624701"/>
                  </a:lnTo>
                  <a:cubicBezTo>
                    <a:pt x="10949686" y="6770370"/>
                    <a:pt x="10831576" y="6888353"/>
                    <a:pt x="10686034" y="6888353"/>
                  </a:cubicBezTo>
                  <a:lnTo>
                    <a:pt x="263652" y="6888353"/>
                  </a:lnTo>
                  <a:cubicBezTo>
                    <a:pt x="118110" y="6888353"/>
                    <a:pt x="0" y="6770243"/>
                    <a:pt x="0" y="6624701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69029" y="4573781"/>
            <a:ext cx="4347715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Content Fields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9029" y="5202136"/>
            <a:ext cx="7663158" cy="418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Type (Movie / TV Show)</a:t>
            </a:r>
          </a:p>
          <a:p>
            <a:pPr algn="l" marL="506730" indent="-25336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</a:p>
          <a:p>
            <a:pPr algn="l" marL="506730" indent="-25336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Director</a:t>
            </a:r>
          </a:p>
          <a:p>
            <a:pPr algn="l" marL="506730" indent="-25336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Country</a:t>
            </a:r>
          </a:p>
          <a:p>
            <a:pPr algn="l" marL="506730" indent="-25336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Release Year</a:t>
            </a:r>
          </a:p>
          <a:p>
            <a:pPr algn="l" marL="506730" indent="-25336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Rating</a:t>
            </a:r>
          </a:p>
          <a:p>
            <a:pPr algn="l" marL="506730" indent="-25336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Genre</a:t>
            </a:r>
          </a:p>
          <a:p>
            <a:pPr algn="l" marL="506730" indent="-25336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Duration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88538" y="4573781"/>
            <a:ext cx="5128174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Data Cleaning Performed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88538" y="5202136"/>
            <a:ext cx="7816748" cy="208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Checked missing values</a:t>
            </a:r>
          </a:p>
          <a:p>
            <a:pPr algn="l" marL="506730" indent="-25336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Replaced missing values with "Unknown"</a:t>
            </a:r>
          </a:p>
          <a:p>
            <a:pPr algn="l" marL="506730" indent="-25336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Verified data types</a:t>
            </a:r>
          </a:p>
          <a:p>
            <a:pPr algn="l" marL="506730" indent="-25336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Prepared dataset for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9663" y="2943520"/>
            <a:ext cx="6618684" cy="4399950"/>
            <a:chOff x="0" y="0"/>
            <a:chExt cx="8824912" cy="58666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824849" cy="5866638"/>
            </a:xfrm>
            <a:custGeom>
              <a:avLst/>
              <a:gdLst/>
              <a:ahLst/>
              <a:cxnLst/>
              <a:rect r="r" b="b" t="t" l="l"/>
              <a:pathLst>
                <a:path h="5866638" w="8824849">
                  <a:moveTo>
                    <a:pt x="0" y="0"/>
                  </a:moveTo>
                  <a:lnTo>
                    <a:pt x="8824849" y="0"/>
                  </a:lnTo>
                  <a:lnTo>
                    <a:pt x="8824849" y="5866638"/>
                  </a:lnTo>
                  <a:lnTo>
                    <a:pt x="0" y="5866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0238" y="782536"/>
            <a:ext cx="9445523" cy="151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5"/>
              </a:lnSpc>
            </a:pPr>
            <a:r>
              <a:rPr lang="en-US" sz="4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Visualization 1 – Movies vs TV Shows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8" y="3226298"/>
            <a:ext cx="5698922" cy="626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Insight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7850238" y="4155577"/>
            <a:ext cx="9445523" cy="888206"/>
          </a:xfrm>
          <a:custGeom>
            <a:avLst/>
            <a:gdLst/>
            <a:ahLst/>
            <a:cxnLst/>
            <a:rect r="r" b="b" t="t" l="l"/>
            <a:pathLst>
              <a:path h="888206" w="9445523">
                <a:moveTo>
                  <a:pt x="0" y="0"/>
                </a:moveTo>
                <a:lnTo>
                  <a:pt x="9445524" y="0"/>
                </a:lnTo>
                <a:lnTo>
                  <a:pt x="9445524" y="888206"/>
                </a:lnTo>
                <a:lnTo>
                  <a:pt x="0" y="888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384" r="0" b="-383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232277" y="4375699"/>
            <a:ext cx="8795737" cy="40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Movies account for a much larger portion of Netflix's catalog than TV Shows.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7850238" y="5245598"/>
            <a:ext cx="9445523" cy="1240927"/>
          </a:xfrm>
          <a:custGeom>
            <a:avLst/>
            <a:gdLst/>
            <a:ahLst/>
            <a:cxnLst/>
            <a:rect r="r" b="b" t="t" l="l"/>
            <a:pathLst>
              <a:path h="1240927" w="9445523">
                <a:moveTo>
                  <a:pt x="0" y="0"/>
                </a:moveTo>
                <a:lnTo>
                  <a:pt x="9445524" y="0"/>
                </a:lnTo>
                <a:lnTo>
                  <a:pt x="9445524" y="1240927"/>
                </a:lnTo>
                <a:lnTo>
                  <a:pt x="0" y="12409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58" r="0" b="-25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232277" y="5465712"/>
            <a:ext cx="8795737" cy="75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suggests Netflix has invested more heavily in movie production and licensing.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7850238" y="6688341"/>
            <a:ext cx="9445523" cy="888206"/>
          </a:xfrm>
          <a:custGeom>
            <a:avLst/>
            <a:gdLst/>
            <a:ahLst/>
            <a:cxnLst/>
            <a:rect r="r" b="b" t="t" l="l"/>
            <a:pathLst>
              <a:path h="888206" w="9445523">
                <a:moveTo>
                  <a:pt x="0" y="0"/>
                </a:moveTo>
                <a:lnTo>
                  <a:pt x="9445524" y="0"/>
                </a:lnTo>
                <a:lnTo>
                  <a:pt x="9445524" y="888206"/>
                </a:lnTo>
                <a:lnTo>
                  <a:pt x="0" y="888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384" r="0" b="-383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232277" y="6908454"/>
            <a:ext cx="8795737" cy="40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TV Shows represent a smaller but significant portion of the platform.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50238" y="7850686"/>
            <a:ext cx="6364634" cy="626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Business Interpretation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50238" y="8732339"/>
            <a:ext cx="9445523" cy="75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Netflix attracts a wide audience by offering a large collection of movies while continuing to expand its TV Show library.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891" y="3052315"/>
            <a:ext cx="6614217" cy="4182370"/>
            <a:chOff x="0" y="0"/>
            <a:chExt cx="8818956" cy="5576494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819007" cy="5576443"/>
            </a:xfrm>
            <a:custGeom>
              <a:avLst/>
              <a:gdLst/>
              <a:ahLst/>
              <a:cxnLst/>
              <a:rect r="r" b="b" t="t" l="l"/>
              <a:pathLst>
                <a:path h="5576443" w="8819007">
                  <a:moveTo>
                    <a:pt x="0" y="0"/>
                  </a:moveTo>
                  <a:lnTo>
                    <a:pt x="8819007" y="0"/>
                  </a:lnTo>
                  <a:lnTo>
                    <a:pt x="8819007" y="5576443"/>
                  </a:lnTo>
                  <a:lnTo>
                    <a:pt x="0" y="5576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0238" y="855907"/>
            <a:ext cx="9445523" cy="1541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5"/>
              </a:lnSpc>
            </a:pPr>
            <a:r>
              <a:rPr lang="en-US" sz="4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Visualization 2 – Top Countries Producing Content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8" y="3369173"/>
            <a:ext cx="5787628" cy="62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8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Insight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7850238" y="4311253"/>
            <a:ext cx="9445523" cy="906809"/>
          </a:xfrm>
          <a:custGeom>
            <a:avLst/>
            <a:gdLst/>
            <a:ahLst/>
            <a:cxnLst/>
            <a:rect r="r" b="b" t="t" l="l"/>
            <a:pathLst>
              <a:path h="906809" w="9445523">
                <a:moveTo>
                  <a:pt x="0" y="0"/>
                </a:moveTo>
                <a:lnTo>
                  <a:pt x="9445524" y="0"/>
                </a:lnTo>
                <a:lnTo>
                  <a:pt x="9445524" y="906809"/>
                </a:lnTo>
                <a:lnTo>
                  <a:pt x="0" y="906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01" r="0" b="-401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236744" y="4526309"/>
            <a:ext cx="8786812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United States contributes the highest number of Netflix titles.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7850238" y="5427316"/>
            <a:ext cx="9445523" cy="906809"/>
          </a:xfrm>
          <a:custGeom>
            <a:avLst/>
            <a:gdLst/>
            <a:ahLst/>
            <a:cxnLst/>
            <a:rect r="r" b="b" t="t" l="l"/>
            <a:pathLst>
              <a:path h="906809" w="9445523">
                <a:moveTo>
                  <a:pt x="0" y="0"/>
                </a:moveTo>
                <a:lnTo>
                  <a:pt x="9445524" y="0"/>
                </a:lnTo>
                <a:lnTo>
                  <a:pt x="9445524" y="906809"/>
                </a:lnTo>
                <a:lnTo>
                  <a:pt x="0" y="906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01" r="0" b="-40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236744" y="5642372"/>
            <a:ext cx="8786812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India is another major content producer.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7850238" y="6543380"/>
            <a:ext cx="9445523" cy="906809"/>
          </a:xfrm>
          <a:custGeom>
            <a:avLst/>
            <a:gdLst/>
            <a:ahLst/>
            <a:cxnLst/>
            <a:rect r="r" b="b" t="t" l="l"/>
            <a:pathLst>
              <a:path h="906809" w="9445523">
                <a:moveTo>
                  <a:pt x="0" y="0"/>
                </a:moveTo>
                <a:lnTo>
                  <a:pt x="9445524" y="0"/>
                </a:lnTo>
                <a:lnTo>
                  <a:pt x="9445524" y="906808"/>
                </a:lnTo>
                <a:lnTo>
                  <a:pt x="0" y="9068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01" r="0" b="-401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236744" y="6758435"/>
            <a:ext cx="8786812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Several other countries contribute smaller amounts of content.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50238" y="7745168"/>
            <a:ext cx="6466437" cy="62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8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Business Interpretation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50238" y="8630098"/>
            <a:ext cx="9445523" cy="78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Netflix has successfully expanded internationally while maintaining a strong content base from major entertainment markets.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5738" y="2838450"/>
            <a:ext cx="6486525" cy="4610100"/>
            <a:chOff x="0" y="0"/>
            <a:chExt cx="8648700" cy="61468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648700" cy="6146800"/>
            </a:xfrm>
            <a:custGeom>
              <a:avLst/>
              <a:gdLst/>
              <a:ahLst/>
              <a:cxnLst/>
              <a:rect r="r" b="b" t="t" l="l"/>
              <a:pathLst>
                <a:path h="6146800" w="8648700">
                  <a:moveTo>
                    <a:pt x="0" y="0"/>
                  </a:moveTo>
                  <a:lnTo>
                    <a:pt x="8648700" y="0"/>
                  </a:lnTo>
                  <a:lnTo>
                    <a:pt x="8648700" y="6146800"/>
                  </a:lnTo>
                  <a:lnTo>
                    <a:pt x="0" y="614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0238" y="973341"/>
            <a:ext cx="9445523" cy="179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Visualization 3 – Content Ratings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8" y="2858691"/>
            <a:ext cx="6585052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Insight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45476" y="4006901"/>
            <a:ext cx="4590459" cy="1502864"/>
            <a:chOff x="0" y="0"/>
            <a:chExt cx="6120613" cy="20038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20638" cy="2003806"/>
            </a:xfrm>
            <a:custGeom>
              <a:avLst/>
              <a:gdLst/>
              <a:ahLst/>
              <a:cxnLst/>
              <a:rect r="r" b="b" t="t" l="l"/>
              <a:pathLst>
                <a:path h="2003806" w="6120638">
                  <a:moveTo>
                    <a:pt x="0" y="159766"/>
                  </a:moveTo>
                  <a:cubicBezTo>
                    <a:pt x="0" y="71501"/>
                    <a:pt x="71501" y="0"/>
                    <a:pt x="159766" y="0"/>
                  </a:cubicBezTo>
                  <a:lnTo>
                    <a:pt x="5960872" y="0"/>
                  </a:lnTo>
                  <a:cubicBezTo>
                    <a:pt x="6049137" y="0"/>
                    <a:pt x="6120638" y="71501"/>
                    <a:pt x="6120638" y="159766"/>
                  </a:cubicBezTo>
                  <a:lnTo>
                    <a:pt x="6120638" y="1844040"/>
                  </a:lnTo>
                  <a:cubicBezTo>
                    <a:pt x="6120638" y="1932305"/>
                    <a:pt x="6049137" y="2003806"/>
                    <a:pt x="5960872" y="2003806"/>
                  </a:cubicBezTo>
                  <a:lnTo>
                    <a:pt x="159766" y="2003806"/>
                  </a:lnTo>
                  <a:cubicBezTo>
                    <a:pt x="71501" y="2003806"/>
                    <a:pt x="0" y="1932305"/>
                    <a:pt x="0" y="1844040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8143284" y="4218975"/>
            <a:ext cx="3994842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TV-MA is the most common rating.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709922" y="4006901"/>
            <a:ext cx="4590602" cy="1502864"/>
            <a:chOff x="0" y="0"/>
            <a:chExt cx="6120803" cy="20038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20765" cy="2003806"/>
            </a:xfrm>
            <a:custGeom>
              <a:avLst/>
              <a:gdLst/>
              <a:ahLst/>
              <a:cxnLst/>
              <a:rect r="r" b="b" t="t" l="l"/>
              <a:pathLst>
                <a:path h="2003806" w="6120765">
                  <a:moveTo>
                    <a:pt x="0" y="159766"/>
                  </a:moveTo>
                  <a:cubicBezTo>
                    <a:pt x="0" y="71501"/>
                    <a:pt x="71501" y="0"/>
                    <a:pt x="159766" y="0"/>
                  </a:cubicBezTo>
                  <a:lnTo>
                    <a:pt x="5960999" y="0"/>
                  </a:lnTo>
                  <a:cubicBezTo>
                    <a:pt x="6049264" y="0"/>
                    <a:pt x="6120765" y="71501"/>
                    <a:pt x="6120765" y="159766"/>
                  </a:cubicBezTo>
                  <a:lnTo>
                    <a:pt x="6120765" y="1844040"/>
                  </a:lnTo>
                  <a:cubicBezTo>
                    <a:pt x="6120765" y="1932305"/>
                    <a:pt x="6049264" y="2003806"/>
                    <a:pt x="5960999" y="2003806"/>
                  </a:cubicBezTo>
                  <a:lnTo>
                    <a:pt x="159766" y="2003806"/>
                  </a:lnTo>
                  <a:cubicBezTo>
                    <a:pt x="71501" y="2003806"/>
                    <a:pt x="0" y="1932305"/>
                    <a:pt x="0" y="1844040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3007731" y="4218975"/>
            <a:ext cx="399499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TV-14 also represents a large share.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845476" y="5783761"/>
            <a:ext cx="9455048" cy="1049236"/>
            <a:chOff x="0" y="0"/>
            <a:chExt cx="12606731" cy="13989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606782" cy="1399032"/>
            </a:xfrm>
            <a:custGeom>
              <a:avLst/>
              <a:gdLst/>
              <a:ahLst/>
              <a:cxnLst/>
              <a:rect r="r" b="b" t="t" l="l"/>
              <a:pathLst>
                <a:path h="1399032" w="12606782">
                  <a:moveTo>
                    <a:pt x="0" y="160274"/>
                  </a:moveTo>
                  <a:cubicBezTo>
                    <a:pt x="0" y="71755"/>
                    <a:pt x="71755" y="0"/>
                    <a:pt x="160274" y="0"/>
                  </a:cubicBezTo>
                  <a:lnTo>
                    <a:pt x="12446508" y="0"/>
                  </a:lnTo>
                  <a:cubicBezTo>
                    <a:pt x="12535026" y="0"/>
                    <a:pt x="12606782" y="71755"/>
                    <a:pt x="12606782" y="160274"/>
                  </a:cubicBezTo>
                  <a:lnTo>
                    <a:pt x="12606782" y="1238758"/>
                  </a:lnTo>
                  <a:cubicBezTo>
                    <a:pt x="12606782" y="1327277"/>
                    <a:pt x="12535026" y="1399032"/>
                    <a:pt x="12446508" y="1399032"/>
                  </a:cubicBezTo>
                  <a:lnTo>
                    <a:pt x="160274" y="1399032"/>
                  </a:lnTo>
                  <a:cubicBezTo>
                    <a:pt x="71755" y="1399032"/>
                    <a:pt x="0" y="1327277"/>
                    <a:pt x="0" y="1238758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8143284" y="5995835"/>
            <a:ext cx="8859441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Family-friendly ratings occupy a smaller portion.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50238" y="7234390"/>
            <a:ext cx="7373541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Business Interpretation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50238" y="8301638"/>
            <a:ext cx="9445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Netflix primarily targets adult and teenage audiences while maintaining content suitable for children and families.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60657"/>
            <a:ext cx="9109177" cy="600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2"/>
              </a:lnSpc>
            </a:pPr>
            <a:r>
              <a:rPr lang="en-US" sz="36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Visualization 4 – Release Year Trend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1605258"/>
            <a:ext cx="11733905" cy="5442347"/>
            <a:chOff x="0" y="0"/>
            <a:chExt cx="15645206" cy="725646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5645257" cy="7256399"/>
            </a:xfrm>
            <a:custGeom>
              <a:avLst/>
              <a:gdLst/>
              <a:ahLst/>
              <a:cxnLst/>
              <a:rect r="r" b="b" t="t" l="l"/>
              <a:pathLst>
                <a:path h="7256399" w="15645257">
                  <a:moveTo>
                    <a:pt x="0" y="0"/>
                  </a:moveTo>
                  <a:lnTo>
                    <a:pt x="15645257" y="0"/>
                  </a:lnTo>
                  <a:lnTo>
                    <a:pt x="15645257" y="7256399"/>
                  </a:lnTo>
                  <a:lnTo>
                    <a:pt x="0" y="7256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0" r="0" b="-5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2238" y="7211616"/>
            <a:ext cx="4635694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Insight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7476" y="7874051"/>
            <a:ext cx="428177" cy="428177"/>
            <a:chOff x="0" y="0"/>
            <a:chExt cx="570903" cy="5709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" cy="570865"/>
            </a:xfrm>
            <a:custGeom>
              <a:avLst/>
              <a:gdLst/>
              <a:ahLst/>
              <a:cxnLst/>
              <a:rect r="r" b="b" t="t" l="l"/>
              <a:pathLst>
                <a:path h="570865" w="570865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464312" y="0"/>
                  </a:lnTo>
                  <a:cubicBezTo>
                    <a:pt x="523113" y="0"/>
                    <a:pt x="570865" y="47752"/>
                    <a:pt x="570865" y="106553"/>
                  </a:cubicBezTo>
                  <a:lnTo>
                    <a:pt x="570865" y="464312"/>
                  </a:lnTo>
                  <a:cubicBezTo>
                    <a:pt x="570865" y="523113"/>
                    <a:pt x="523113" y="570865"/>
                    <a:pt x="464312" y="570865"/>
                  </a:cubicBezTo>
                  <a:lnTo>
                    <a:pt x="106553" y="570865"/>
                  </a:lnTo>
                  <a:cubicBezTo>
                    <a:pt x="47752" y="570865"/>
                    <a:pt x="0" y="523240"/>
                    <a:pt x="0" y="464312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061961" y="7948460"/>
            <a:ext cx="279054" cy="279054"/>
          </a:xfrm>
          <a:custGeom>
            <a:avLst/>
            <a:gdLst/>
            <a:ahLst/>
            <a:cxnLst/>
            <a:rect r="r" b="b" t="t" l="l"/>
            <a:pathLst>
              <a:path h="279054" w="279054">
                <a:moveTo>
                  <a:pt x="0" y="0"/>
                </a:moveTo>
                <a:lnTo>
                  <a:pt x="279054" y="0"/>
                </a:lnTo>
                <a:lnTo>
                  <a:pt x="279054" y="279054"/>
                </a:lnTo>
                <a:lnTo>
                  <a:pt x="0" y="279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666" t="0" r="-6666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32934" y="7920190"/>
            <a:ext cx="4792113" cy="265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7"/>
              </a:lnSpc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Netflix content increased steadily over the years.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472838" y="7874051"/>
            <a:ext cx="428177" cy="428177"/>
            <a:chOff x="0" y="0"/>
            <a:chExt cx="570903" cy="5709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0865" cy="570865"/>
            </a:xfrm>
            <a:custGeom>
              <a:avLst/>
              <a:gdLst/>
              <a:ahLst/>
              <a:cxnLst/>
              <a:rect r="r" b="b" t="t" l="l"/>
              <a:pathLst>
                <a:path h="570865" w="570865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464312" y="0"/>
                  </a:lnTo>
                  <a:cubicBezTo>
                    <a:pt x="523113" y="0"/>
                    <a:pt x="570865" y="47752"/>
                    <a:pt x="570865" y="106553"/>
                  </a:cubicBezTo>
                  <a:lnTo>
                    <a:pt x="570865" y="464312"/>
                  </a:lnTo>
                  <a:cubicBezTo>
                    <a:pt x="570865" y="523113"/>
                    <a:pt x="523113" y="570865"/>
                    <a:pt x="464312" y="570865"/>
                  </a:cubicBezTo>
                  <a:lnTo>
                    <a:pt x="106553" y="570865"/>
                  </a:lnTo>
                  <a:cubicBezTo>
                    <a:pt x="47752" y="570865"/>
                    <a:pt x="0" y="523240"/>
                    <a:pt x="0" y="464312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6547323" y="7948460"/>
            <a:ext cx="279054" cy="279054"/>
          </a:xfrm>
          <a:custGeom>
            <a:avLst/>
            <a:gdLst/>
            <a:ahLst/>
            <a:cxnLst/>
            <a:rect r="r" b="b" t="t" l="l"/>
            <a:pathLst>
              <a:path h="279054" w="279054">
                <a:moveTo>
                  <a:pt x="0" y="0"/>
                </a:moveTo>
                <a:lnTo>
                  <a:pt x="279054" y="0"/>
                </a:lnTo>
                <a:lnTo>
                  <a:pt x="279054" y="279054"/>
                </a:lnTo>
                <a:lnTo>
                  <a:pt x="0" y="279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65" t="0" r="-1665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18287" y="7920190"/>
            <a:ext cx="4792113" cy="265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7"/>
              </a:lnSpc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Rapid growth is observed after 2015.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958190" y="7874051"/>
            <a:ext cx="428177" cy="428177"/>
            <a:chOff x="0" y="0"/>
            <a:chExt cx="570903" cy="5709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0865" cy="570865"/>
            </a:xfrm>
            <a:custGeom>
              <a:avLst/>
              <a:gdLst/>
              <a:ahLst/>
              <a:cxnLst/>
              <a:rect r="r" b="b" t="t" l="l"/>
              <a:pathLst>
                <a:path h="570865" w="570865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464312" y="0"/>
                  </a:lnTo>
                  <a:cubicBezTo>
                    <a:pt x="523113" y="0"/>
                    <a:pt x="570865" y="47752"/>
                    <a:pt x="570865" y="106553"/>
                  </a:cubicBezTo>
                  <a:lnTo>
                    <a:pt x="570865" y="464312"/>
                  </a:lnTo>
                  <a:cubicBezTo>
                    <a:pt x="570865" y="523113"/>
                    <a:pt x="523113" y="570865"/>
                    <a:pt x="464312" y="570865"/>
                  </a:cubicBezTo>
                  <a:lnTo>
                    <a:pt x="106553" y="570865"/>
                  </a:lnTo>
                  <a:cubicBezTo>
                    <a:pt x="47752" y="570865"/>
                    <a:pt x="0" y="523240"/>
                    <a:pt x="0" y="464312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12032675" y="7948460"/>
            <a:ext cx="279054" cy="279054"/>
          </a:xfrm>
          <a:custGeom>
            <a:avLst/>
            <a:gdLst/>
            <a:ahLst/>
            <a:cxnLst/>
            <a:rect r="r" b="b" t="t" l="l"/>
            <a:pathLst>
              <a:path h="279054" w="279054">
                <a:moveTo>
                  <a:pt x="0" y="0"/>
                </a:moveTo>
                <a:lnTo>
                  <a:pt x="279054" y="0"/>
                </a:lnTo>
                <a:lnTo>
                  <a:pt x="279054" y="279054"/>
                </a:lnTo>
                <a:lnTo>
                  <a:pt x="0" y="279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503648" y="7920190"/>
            <a:ext cx="4792113" cy="511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7"/>
              </a:lnSpc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reflects Netflix's expansion into original productions and global markets.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8596160"/>
            <a:ext cx="5152130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Business Interpretation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2238" y="9244308"/>
            <a:ext cx="17217923" cy="265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7"/>
              </a:lnSpc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company significantly increased its investment in content production to meet growing subscriber demand.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90538" y="3186112"/>
            <a:ext cx="5876925" cy="3914775"/>
            <a:chOff x="0" y="0"/>
            <a:chExt cx="7835900" cy="52197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7835900" cy="5219700"/>
            </a:xfrm>
            <a:custGeom>
              <a:avLst/>
              <a:gdLst/>
              <a:ahLst/>
              <a:cxnLst/>
              <a:rect r="r" b="b" t="t" l="l"/>
              <a:pathLst>
                <a:path h="5219700" w="7835900">
                  <a:moveTo>
                    <a:pt x="0" y="0"/>
                  </a:moveTo>
                  <a:lnTo>
                    <a:pt x="7835900" y="0"/>
                  </a:lnTo>
                  <a:lnTo>
                    <a:pt x="7835900" y="5219700"/>
                  </a:lnTo>
                  <a:lnTo>
                    <a:pt x="0" y="5219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0238" y="1002506"/>
            <a:ext cx="9445523" cy="176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Visualization 5 – Top Genres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8" y="2856605"/>
            <a:ext cx="6496345" cy="71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Insight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31188" y="3966420"/>
            <a:ext cx="4623492" cy="1558233"/>
            <a:chOff x="0" y="0"/>
            <a:chExt cx="6164656" cy="20776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64580" cy="2077593"/>
            </a:xfrm>
            <a:custGeom>
              <a:avLst/>
              <a:gdLst/>
              <a:ahLst/>
              <a:cxnLst/>
              <a:rect r="r" b="b" t="t" l="l"/>
              <a:pathLst>
                <a:path h="2077593" w="6164580">
                  <a:moveTo>
                    <a:pt x="0" y="160147"/>
                  </a:moveTo>
                  <a:cubicBezTo>
                    <a:pt x="0" y="71755"/>
                    <a:pt x="71755" y="0"/>
                    <a:pt x="160147" y="0"/>
                  </a:cubicBezTo>
                  <a:lnTo>
                    <a:pt x="6004433" y="0"/>
                  </a:lnTo>
                  <a:cubicBezTo>
                    <a:pt x="6092952" y="0"/>
                    <a:pt x="6164580" y="71755"/>
                    <a:pt x="6164580" y="160147"/>
                  </a:cubicBezTo>
                  <a:lnTo>
                    <a:pt x="6164580" y="1917446"/>
                  </a:lnTo>
                  <a:cubicBezTo>
                    <a:pt x="6164580" y="2005965"/>
                    <a:pt x="6092825" y="2077593"/>
                    <a:pt x="6004433" y="2077593"/>
                  </a:cubicBezTo>
                  <a:lnTo>
                    <a:pt x="160147" y="2077593"/>
                  </a:lnTo>
                  <a:cubicBezTo>
                    <a:pt x="71755" y="2077593"/>
                    <a:pt x="0" y="2005965"/>
                    <a:pt x="0" y="1917446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8167392" y="4226423"/>
            <a:ext cx="395109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Drama is one of the most common genres.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691320" y="3966420"/>
            <a:ext cx="4623492" cy="1558233"/>
            <a:chOff x="0" y="0"/>
            <a:chExt cx="6164656" cy="20776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64580" cy="2077593"/>
            </a:xfrm>
            <a:custGeom>
              <a:avLst/>
              <a:gdLst/>
              <a:ahLst/>
              <a:cxnLst/>
              <a:rect r="r" b="b" t="t" l="l"/>
              <a:pathLst>
                <a:path h="2077593" w="6164580">
                  <a:moveTo>
                    <a:pt x="0" y="160147"/>
                  </a:moveTo>
                  <a:cubicBezTo>
                    <a:pt x="0" y="71755"/>
                    <a:pt x="71755" y="0"/>
                    <a:pt x="160147" y="0"/>
                  </a:cubicBezTo>
                  <a:lnTo>
                    <a:pt x="6004433" y="0"/>
                  </a:lnTo>
                  <a:cubicBezTo>
                    <a:pt x="6092952" y="0"/>
                    <a:pt x="6164580" y="71755"/>
                    <a:pt x="6164580" y="160147"/>
                  </a:cubicBezTo>
                  <a:lnTo>
                    <a:pt x="6164580" y="1917446"/>
                  </a:lnTo>
                  <a:cubicBezTo>
                    <a:pt x="6164580" y="2005965"/>
                    <a:pt x="6092825" y="2077593"/>
                    <a:pt x="6004433" y="2077593"/>
                  </a:cubicBezTo>
                  <a:lnTo>
                    <a:pt x="160147" y="2077593"/>
                  </a:lnTo>
                  <a:cubicBezTo>
                    <a:pt x="71755" y="2077593"/>
                    <a:pt x="0" y="2005965"/>
                    <a:pt x="0" y="1917446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3027523" y="4226423"/>
            <a:ext cx="395109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International Movies have become increasingly popular.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831188" y="5761282"/>
            <a:ext cx="9483623" cy="1115320"/>
            <a:chOff x="0" y="0"/>
            <a:chExt cx="12644831" cy="14870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644755" cy="1487043"/>
            </a:xfrm>
            <a:custGeom>
              <a:avLst/>
              <a:gdLst/>
              <a:ahLst/>
              <a:cxnLst/>
              <a:rect r="r" b="b" t="t" l="l"/>
              <a:pathLst>
                <a:path h="1487043" w="12644755">
                  <a:moveTo>
                    <a:pt x="0" y="161798"/>
                  </a:moveTo>
                  <a:cubicBezTo>
                    <a:pt x="0" y="72390"/>
                    <a:pt x="72390" y="0"/>
                    <a:pt x="161798" y="0"/>
                  </a:cubicBezTo>
                  <a:lnTo>
                    <a:pt x="12482957" y="0"/>
                  </a:lnTo>
                  <a:cubicBezTo>
                    <a:pt x="12572364" y="0"/>
                    <a:pt x="12644755" y="72390"/>
                    <a:pt x="12644755" y="161798"/>
                  </a:cubicBezTo>
                  <a:lnTo>
                    <a:pt x="12644755" y="1325245"/>
                  </a:lnTo>
                  <a:cubicBezTo>
                    <a:pt x="12644755" y="1414653"/>
                    <a:pt x="12572364" y="1487043"/>
                    <a:pt x="12482957" y="1487043"/>
                  </a:cubicBezTo>
                  <a:lnTo>
                    <a:pt x="161798" y="1487043"/>
                  </a:lnTo>
                  <a:cubicBezTo>
                    <a:pt x="72390" y="1487043"/>
                    <a:pt x="0" y="1414653"/>
                    <a:pt x="0" y="1325245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8167392" y="6021286"/>
            <a:ext cx="8811216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Comedy also contributes significantly to Netflix's library.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50238" y="7250611"/>
            <a:ext cx="7273528" cy="71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Business Interpretation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50238" y="8303266"/>
            <a:ext cx="9445523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Netflix offers diverse genres to satisfy different audience preferences across the world.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01303"/>
            <a:ext cx="10275541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Overall Story from the 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900685"/>
            <a:ext cx="6585052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Findings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053658"/>
            <a:ext cx="567033" cy="354359"/>
            <a:chOff x="0" y="0"/>
            <a:chExt cx="756044" cy="4724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756044" cy="472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2238" y="3497456"/>
            <a:ext cx="5245446" cy="38100"/>
            <a:chOff x="0" y="0"/>
            <a:chExt cx="6993928" cy="5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92238" y="3629625"/>
            <a:ext cx="524544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Movies dominate Netflix's content library.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21206" y="3053658"/>
            <a:ext cx="567033" cy="354359"/>
            <a:chOff x="0" y="0"/>
            <a:chExt cx="756044" cy="4724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756044" cy="472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21206" y="3497456"/>
            <a:ext cx="5245446" cy="38100"/>
            <a:chOff x="0" y="0"/>
            <a:chExt cx="6993928" cy="50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521206" y="3629625"/>
            <a:ext cx="524544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United States produces the largest number of titles.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050163" y="3053658"/>
            <a:ext cx="567033" cy="354359"/>
            <a:chOff x="0" y="0"/>
            <a:chExt cx="756044" cy="4724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756044" cy="472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50163" y="3497456"/>
            <a:ext cx="5245446" cy="38100"/>
            <a:chOff x="0" y="0"/>
            <a:chExt cx="6993928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050163" y="3629625"/>
            <a:ext cx="524544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Netflix has expanded rapidly since 2015.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92238" y="5118649"/>
            <a:ext cx="567033" cy="354359"/>
            <a:chOff x="0" y="0"/>
            <a:chExt cx="756044" cy="4724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756044" cy="472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04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92238" y="5562448"/>
            <a:ext cx="8009934" cy="38100"/>
            <a:chOff x="0" y="0"/>
            <a:chExt cx="10679913" cy="50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92238" y="5694607"/>
            <a:ext cx="8009934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Most content is intended for mature audiences.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85684" y="5118649"/>
            <a:ext cx="567033" cy="354359"/>
            <a:chOff x="0" y="0"/>
            <a:chExt cx="756044" cy="47247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756044" cy="472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05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85684" y="5562448"/>
            <a:ext cx="8009934" cy="38100"/>
            <a:chOff x="0" y="0"/>
            <a:chExt cx="10679913" cy="50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285684" y="5694607"/>
            <a:ext cx="800993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Drama and International Movies are the most popular genres.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2238" y="7306266"/>
            <a:ext cx="6585052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Overall Story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92238" y="8373513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visualizations show Netflix's transformation into a global entertainment platform with a diverse and rapidly growing collection of content designed for audiences across different countries and age groups.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124818"/>
            <a:ext cx="8002638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511153"/>
            <a:ext cx="17217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project demonstrated how data visualization can convert raw data into meaningful insights.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88041" y="4369441"/>
            <a:ext cx="8214274" cy="3773691"/>
            <a:chOff x="0" y="0"/>
            <a:chExt cx="10952366" cy="50315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52353" cy="5031486"/>
            </a:xfrm>
            <a:custGeom>
              <a:avLst/>
              <a:gdLst/>
              <a:ahLst/>
              <a:cxnLst/>
              <a:rect r="r" b="b" t="t" l="l"/>
              <a:pathLst>
                <a:path h="5031486" w="10952353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0680192" y="0"/>
                  </a:lnTo>
                  <a:cubicBezTo>
                    <a:pt x="10830561" y="0"/>
                    <a:pt x="10952353" y="121920"/>
                    <a:pt x="10952353" y="272161"/>
                  </a:cubicBezTo>
                  <a:lnTo>
                    <a:pt x="10952353" y="4759325"/>
                  </a:lnTo>
                  <a:cubicBezTo>
                    <a:pt x="10952353" y="4909693"/>
                    <a:pt x="10830433" y="5031486"/>
                    <a:pt x="10680192" y="5031486"/>
                  </a:cubicBezTo>
                  <a:lnTo>
                    <a:pt x="272161" y="5031486"/>
                  </a:lnTo>
                  <a:cubicBezTo>
                    <a:pt x="121920" y="5031613"/>
                    <a:pt x="0" y="4909693"/>
                    <a:pt x="0" y="475932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1562" y="4643437"/>
            <a:ext cx="44584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What I Learned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1562" y="5293671"/>
            <a:ext cx="7647232" cy="275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cleaning before visualization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Choosing appropriate chart types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Creating effective visualizations using Matplotlib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Interpreting visual patterns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Communicating insights through storytelling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99406" y="4643437"/>
            <a:ext cx="44584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Final Outcome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99406" y="5293671"/>
            <a:ext cx="7805890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project successfully transformed Netflix data into a clear and engaging story using visualizations, highlighting trends that support better understanding and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DAHOIyI-TSI</dc:identifier>
  <dcterms:modified xsi:type="dcterms:W3CDTF">2011-08-01T06:04:30Z</dcterms:modified>
  <cp:revision>1</cp:revision>
  <dc:title>Netflix-Content-Analysis-Storytelling-Through-Data-Visualization.pptx</dc:title>
</cp:coreProperties>
</file>